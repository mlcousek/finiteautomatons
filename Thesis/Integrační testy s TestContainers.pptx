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5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E73B-8E5E-7043-07EE-E509BA865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1B910-37CC-CBFE-37D9-A315BD6F5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5626-2454-6C8C-CB06-92F6683B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F4FE3-C844-EA53-5591-FDC727C0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48102-C4FB-54D6-7C93-F8AFF850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4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2B6C-D327-2591-6045-3C8A259B5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66655-A084-FF9D-9518-2E45B391B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16E5A-4DB1-54A2-C863-B04BEA25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E959-D61D-E6A7-BE19-2FDDC14B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91B7C-F689-4B52-DCA3-72B4FB45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1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EC8F-4816-7A92-A097-4C26F9B6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6F2F9-7C2F-3825-F6DF-0A633745E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B0B97-A159-4215-AB00-C7A2FB4A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34AC-F56F-EC12-3DB5-989A720C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B8A47-50A4-6B25-4DE2-EF2FC434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2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CD83-D9FE-9FDB-153B-215A695D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D66C-7FF2-B2F3-9012-0435F203D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B6AB2-D826-12B5-1D81-9F5CFD1F6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3F42E-7983-CECC-61B5-04F5A0AC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D8936-9A57-A9E6-F03F-3B15074B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2D2DA-DC68-1197-064F-B6F7269F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1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D630-9C74-FC36-F937-A810D1F2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ACACD-1E76-C34F-58B1-C82058D7E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7DCCA-2F1B-97B5-4863-FF943707D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A54B2-4A2D-4175-0A6C-F7DDC9547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DF5537-622D-11A1-BBBF-FD52344AE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BAE34-38CA-0FE3-A4F6-565E58FD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4EDDF-73B4-4D4C-1844-B715F670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CAC561-445F-1675-F56C-A5104190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9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6365-FE4A-AF55-E263-E9BEA241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74A9D2-188B-8C7E-7CB8-176492FA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59D58-06D3-3A34-5E95-BC5780DB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C37E2-A752-DF16-96FC-4162DA8E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9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19382-227D-5C52-B2BA-3C127DA2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F4603-24DE-97E2-6635-89C2A7D2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B8049-6DAD-2758-6240-1FB7D484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6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6148-1458-CCE1-4691-31DE26184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68348-B3F2-7A1F-B18A-19B4A6201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7997E-FEB2-D233-078F-B80E677D0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17F51-6AA8-5D45-608F-F26C8344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00AD-8FD0-507F-6DCD-9BA6EABB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1CD3-2B44-DDF0-386A-769D619A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18BA-C884-7B48-1E61-342C040BF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F50FA-77AD-F45C-F861-A48FDC915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FDAD8-EB7B-3D47-D48B-655640299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75E88-4594-BDAE-CBD5-FAAB3B6C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87AA6-6F04-9FD4-41FB-87BBFD78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DC5EA-0A67-25E7-7827-4CF51ADD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5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8EFF-9553-00B8-83B4-C1E40FEC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03107-546E-B1CD-ECB7-D26F3758B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89941-E63C-C0EC-284F-C84DCA4D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F6FA6-51D1-F321-FEA5-1D7269E69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20990-4648-DE18-B917-214BF17D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E8B965-CEB2-83D4-4339-7676E6CC4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A95E8-A4C8-FC90-8C7C-2A8737646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A430-9E3C-0842-76C1-1C47720F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F040A-9078-510F-6DE3-4176DC5B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5056B-8B9A-FD5B-1064-BDCC2944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0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AA9F6-A272-BB86-5EB4-6E3E5AB24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B487C-26C8-DD26-C170-8C798DE6D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E3A07-99BD-D47D-AE8C-C6B6FA28B5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3619C-52C5-4777-B469-EE0C02E8E7E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76713-F41A-2B5C-01D0-6711256D9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8F952-D44C-E170-E445-D0A873482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F3B02-B653-4BEE-A392-9B10663C1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9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6E99C3-4B46-6F0B-8B44-6DF00ED5D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5343145" cy="2308324"/>
          </a:xfrm>
        </p:spPr>
        <p:txBody>
          <a:bodyPr>
            <a:normAutofit/>
          </a:bodyPr>
          <a:lstStyle/>
          <a:p>
            <a:pPr algn="l"/>
            <a:r>
              <a:rPr lang="cs-CZ" sz="7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Integrační testy s TestContainers</a:t>
            </a:r>
            <a:endParaRPr lang="en-US" sz="7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C5985-3361-8ECB-FF11-911EC1B6E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cs-CZ" dirty="0">
                <a:solidFill>
                  <a:schemeClr val="bg1"/>
                </a:solidFill>
                <a:latin typeface="Bahnschrift Condensed" panose="020B0502040204020203" pitchFamily="34" charset="0"/>
              </a:rPr>
              <a:t>Jiří Mlčoušek</a:t>
            </a:r>
            <a:endParaRPr lang="en-US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320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7E4E1-210C-8D80-9397-A3DB1DE1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anchor="t">
            <a:normAutofit/>
          </a:bodyPr>
          <a:lstStyle/>
          <a:p>
            <a:r>
              <a:rPr lang="cs-CZ" sz="4000" dirty="0">
                <a:latin typeface="Bahnschrift Condensed" panose="020B0502040204020203" pitchFamily="34" charset="0"/>
              </a:rPr>
              <a:t>Jaké testy jako vývojář chtít</a:t>
            </a:r>
            <a:endParaRPr lang="en-US" sz="4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A053-AE38-1100-1992-2C8A7B43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03160"/>
            <a:ext cx="8740775" cy="2454300"/>
          </a:xfrm>
        </p:spPr>
        <p:txBody>
          <a:bodyPr>
            <a:normAutofit/>
          </a:bodyPr>
          <a:lstStyle/>
          <a:p>
            <a:pPr marL="342900" indent="-342900"/>
            <a:r>
              <a:rPr lang="cs-CZ" sz="2400" dirty="0">
                <a:solidFill>
                  <a:schemeClr val="tx1">
                    <a:alpha val="80000"/>
                  </a:schemeClr>
                </a:solidFill>
                <a:latin typeface="Bahnschrift Condensed" panose="020B0502040204020203" pitchFamily="34" charset="0"/>
              </a:rPr>
              <a:t>Rychlé</a:t>
            </a:r>
          </a:p>
          <a:p>
            <a:pPr marL="342900" indent="-342900"/>
            <a:r>
              <a:rPr lang="cs-CZ" sz="2400" dirty="0">
                <a:solidFill>
                  <a:schemeClr val="tx1">
                    <a:alpha val="80000"/>
                  </a:schemeClr>
                </a:solidFill>
                <a:latin typeface="Bahnschrift Condensed" panose="020B0502040204020203" pitchFamily="34" charset="0"/>
              </a:rPr>
              <a:t>Opakovatelné</a:t>
            </a:r>
          </a:p>
          <a:p>
            <a:pPr marL="342900" indent="-342900"/>
            <a:r>
              <a:rPr lang="cs-CZ" sz="2400" dirty="0">
                <a:solidFill>
                  <a:schemeClr val="accent6">
                    <a:lumMod val="40000"/>
                    <a:lumOff val="60000"/>
                    <a:alpha val="80000"/>
                  </a:schemeClr>
                </a:solidFill>
                <a:latin typeface="Bahnschrift Condensed" panose="020B0502040204020203" pitchFamily="34" charset="0"/>
              </a:rPr>
              <a:t>Automatizované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Bahnschrift Condensed" panose="020B0502040204020203" pitchFamily="34" charset="0"/>
              </a:rPr>
              <a:t> </a:t>
            </a:r>
          </a:p>
          <a:p>
            <a:pPr marL="342900" indent="-342900"/>
            <a:r>
              <a:rPr lang="cs-CZ" sz="2400" dirty="0">
                <a:solidFill>
                  <a:schemeClr val="tx1">
                    <a:alpha val="80000"/>
                  </a:schemeClr>
                </a:solidFill>
                <a:latin typeface="Bahnschrift Condensed" panose="020B0502040204020203" pitchFamily="34" charset="0"/>
              </a:rPr>
              <a:t>Testují „co největší kus SW“</a:t>
            </a:r>
            <a:endParaRPr lang="en-US" sz="2400" dirty="0">
              <a:solidFill>
                <a:schemeClr val="tx1">
                  <a:alpha val="80000"/>
                </a:schemeClr>
              </a:solidFill>
              <a:latin typeface="Bahnschrift Condensed" panose="020B0502040204020203" pitchFamily="34" charset="0"/>
            </a:endParaRPr>
          </a:p>
          <a:p>
            <a:pPr marL="342900" indent="-342900"/>
            <a:r>
              <a:rPr lang="en-US" sz="2400" dirty="0">
                <a:solidFill>
                  <a:schemeClr val="accent4">
                    <a:lumMod val="40000"/>
                    <a:lumOff val="60000"/>
                    <a:alpha val="80000"/>
                  </a:schemeClr>
                </a:solidFill>
                <a:latin typeface="Bahnschrift Condensed" panose="020B0502040204020203" pitchFamily="34" charset="0"/>
              </a:rPr>
              <a:t>AI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Bahnschrift Condensed" panose="020B0502040204020203" pitchFamily="34" charset="0"/>
              </a:rPr>
              <a:t>?</a:t>
            </a:r>
            <a:r>
              <a:rPr lang="cs-CZ" sz="2400" dirty="0">
                <a:solidFill>
                  <a:schemeClr val="tx1">
                    <a:alpha val="80000"/>
                  </a:schemeClr>
                </a:solidFill>
                <a:latin typeface="Bahnschrift Condensed" panose="020B0502040204020203" pitchFamily="34" charset="0"/>
              </a:rPr>
              <a:t> 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5B38D70-4819-D4AF-33C1-E32E808186E5}"/>
              </a:ext>
            </a:extLst>
          </p:cNvPr>
          <p:cNvSpPr txBox="1"/>
          <p:nvPr/>
        </p:nvSpPr>
        <p:spPr>
          <a:xfrm>
            <a:off x="2886974" y="3907144"/>
            <a:ext cx="641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  <a:latin typeface="Bahnschrift Condensed" panose="020B0502040204020203" pitchFamily="34" charset="0"/>
              </a:rPr>
              <a:t>(dev</a:t>
            </a:r>
            <a:r>
              <a:rPr lang="cs-CZ" dirty="0">
                <a:solidFill>
                  <a:srgbClr val="FF0000">
                    <a:alpha val="80000"/>
                  </a:srgbClr>
                </a:solidFill>
                <a:latin typeface="Bahnschrift Condensed" panose="020B0502040204020203" pitchFamily="34" charset="0"/>
              </a:rPr>
              <a:t>×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Bahnschrift Condensed" panose="020B0502040204020203" pitchFamily="34" charset="0"/>
              </a:rPr>
              <a:t>)</a:t>
            </a:r>
            <a:endParaRPr lang="cs-CZ" dirty="0">
              <a:solidFill>
                <a:schemeClr val="tx1">
                  <a:alpha val="80000"/>
                </a:schemeClr>
              </a:solidFill>
              <a:latin typeface="Bahnschrift Condensed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37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FDE3C-BDE8-423F-E10A-EB84EA2F1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F3D3F-2E97-120D-6074-99C9EE2B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anchor="t">
            <a:normAutofit/>
          </a:bodyPr>
          <a:lstStyle/>
          <a:p>
            <a:r>
              <a:rPr lang="cs-CZ" sz="4000" dirty="0">
                <a:latin typeface="Bahnschrift Condensed" panose="020B0502040204020203" pitchFamily="34" charset="0"/>
              </a:rPr>
              <a:t>Průběh testu</a:t>
            </a:r>
            <a:endParaRPr lang="en-US" sz="4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FCB99-3508-CBAF-BF36-5D05F494C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03160"/>
            <a:ext cx="8740775" cy="2454300"/>
          </a:xfrm>
        </p:spPr>
        <p:txBody>
          <a:bodyPr>
            <a:normAutofit/>
          </a:bodyPr>
          <a:lstStyle/>
          <a:p>
            <a:pPr marL="342900" indent="-342900"/>
            <a:r>
              <a:rPr lang="cs-CZ" sz="2400" dirty="0">
                <a:latin typeface="Bahnschrift Condensed" panose="020B0502040204020203" pitchFamily="34" charset="0"/>
              </a:rPr>
              <a:t>Příprava </a:t>
            </a:r>
            <a:r>
              <a:rPr lang="cs-CZ" sz="2400" dirty="0">
                <a:solidFill>
                  <a:srgbClr val="FFFF99"/>
                </a:solidFill>
                <a:latin typeface="Bahnschrift Condensed" panose="020B0502040204020203" pitchFamily="34" charset="0"/>
              </a:rPr>
              <a:t>SUT</a:t>
            </a:r>
          </a:p>
          <a:p>
            <a:pPr marL="342900" indent="-342900"/>
            <a:r>
              <a:rPr lang="cs-CZ" sz="2400" dirty="0">
                <a:latin typeface="Bahnschrift Condensed" panose="020B0502040204020203" pitchFamily="34" charset="0"/>
              </a:rPr>
              <a:t>Spuštění testu</a:t>
            </a:r>
          </a:p>
          <a:p>
            <a:pPr marL="342900" indent="-342900"/>
            <a:r>
              <a:rPr lang="cs-CZ" sz="2400" dirty="0">
                <a:latin typeface="Bahnschrift Condensed" panose="020B0502040204020203" pitchFamily="34" charset="0"/>
              </a:rPr>
              <a:t>Vyhodnocení testu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Arrow: Right 3">
            <a:extLst>
              <a:ext uri="{FF2B5EF4-FFF2-40B4-BE49-F238E27FC236}">
                <a16:creationId xmlns:a16="http://schemas.microsoft.com/office/drawing/2014/main" id="{59F38F8D-0370-41DD-435D-B81577918801}"/>
              </a:ext>
            </a:extLst>
          </p:cNvPr>
          <p:cNvSpPr/>
          <p:nvPr/>
        </p:nvSpPr>
        <p:spPr>
          <a:xfrm>
            <a:off x="6010769" y="1948393"/>
            <a:ext cx="2092975" cy="673607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latin typeface="Bahnschrift Condensed" panose="020B0502040204020203" pitchFamily="34" charset="0"/>
              </a:rPr>
              <a:t>Run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8ED13CB-4429-E757-E506-D2D619373E3A}"/>
              </a:ext>
            </a:extLst>
          </p:cNvPr>
          <p:cNvSpPr/>
          <p:nvPr/>
        </p:nvSpPr>
        <p:spPr>
          <a:xfrm flipH="1">
            <a:off x="5985123" y="3311839"/>
            <a:ext cx="2092971" cy="673607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latin typeface="Bahnschrift Condensed" panose="020B0502040204020203" pitchFamily="34" charset="0"/>
              </a:rPr>
              <a:t>Assert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2AF59E-89CC-BC68-9DE1-C704BBF1788C}"/>
              </a:ext>
            </a:extLst>
          </p:cNvPr>
          <p:cNvSpPr/>
          <p:nvPr/>
        </p:nvSpPr>
        <p:spPr>
          <a:xfrm rot="20656114">
            <a:off x="4613824" y="3112388"/>
            <a:ext cx="1438359" cy="52193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latin typeface="Bahnschrift Condensed" panose="020B0502040204020203" pitchFamily="34" charset="0"/>
              </a:rPr>
              <a:t>PASS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D36166-594A-5247-63C4-E55B2EB70AFE}"/>
              </a:ext>
            </a:extLst>
          </p:cNvPr>
          <p:cNvSpPr/>
          <p:nvPr/>
        </p:nvSpPr>
        <p:spPr>
          <a:xfrm rot="1432970">
            <a:off x="4535059" y="3706825"/>
            <a:ext cx="1535670" cy="55724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latin typeface="Bahnschrift Condensed" panose="020B0502040204020203" pitchFamily="34" charset="0"/>
              </a:rPr>
              <a:t>FAIL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378C98-A150-6202-E72A-D673CD83308F}"/>
              </a:ext>
            </a:extLst>
          </p:cNvPr>
          <p:cNvSpPr/>
          <p:nvPr/>
        </p:nvSpPr>
        <p:spPr>
          <a:xfrm>
            <a:off x="8103744" y="1843172"/>
            <a:ext cx="2563989" cy="227542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rgbClr val="FFFF99"/>
                </a:solidFill>
                <a:latin typeface="Bahnschrift Condensed" panose="020B0502040204020203" pitchFamily="34" charset="0"/>
              </a:rPr>
              <a:t>SUT</a:t>
            </a:r>
          </a:p>
        </p:txBody>
      </p:sp>
    </p:spTree>
    <p:extLst>
      <p:ext uri="{BB962C8B-B14F-4D97-AF65-F5344CB8AC3E}">
        <p14:creationId xmlns:p14="http://schemas.microsoft.com/office/powerpoint/2010/main" val="346341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test&#10;&#10;Description automatically generated">
            <a:extLst>
              <a:ext uri="{FF2B5EF4-FFF2-40B4-BE49-F238E27FC236}">
                <a16:creationId xmlns:a16="http://schemas.microsoft.com/office/drawing/2014/main" id="{5DC9838E-FA66-EF45-D747-2A711F735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707" y="495985"/>
            <a:ext cx="5957437" cy="4706375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9A59B10-9D94-4C5B-8BF0-95928DCE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54E31B9-72DD-4DE4-B3E3-4395530BE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8738192-1FEA-49E1-BFF3-6D1C324A5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3C51644-0F34-453B-92B8-9FF33932E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ADB9AB8-2EB4-4B5E-9A1E-84F2E44D9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5F439B0-E080-4B01-85AF-D226A85BA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DEC643B-AA3F-4913-B411-1458BCEF2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79060F-91D4-58B0-216F-888F5F8E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5257801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000" kern="12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Typy automatizovaných testů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7B335-992F-906F-693B-EFF8C4C62213}"/>
              </a:ext>
            </a:extLst>
          </p:cNvPr>
          <p:cNvSpPr txBox="1"/>
          <p:nvPr/>
        </p:nvSpPr>
        <p:spPr>
          <a:xfrm>
            <a:off x="7213092" y="4743223"/>
            <a:ext cx="1591056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830" dirty="0">
                <a:solidFill>
                  <a:schemeClr val="bg1"/>
                </a:solidFill>
              </a:rPr>
              <a:t>Test count</a:t>
            </a:r>
            <a:endParaRPr lang="en-US" sz="183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11BCC-3DE8-07E4-390E-B4EC34932AF0}"/>
              </a:ext>
            </a:extLst>
          </p:cNvPr>
          <p:cNvSpPr txBox="1"/>
          <p:nvPr/>
        </p:nvSpPr>
        <p:spPr>
          <a:xfrm>
            <a:off x="10196894" y="2137869"/>
            <a:ext cx="1591056" cy="373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830" dirty="0">
                <a:solidFill>
                  <a:schemeClr val="bg1"/>
                </a:solidFill>
              </a:rPr>
              <a:t>Emulating</a:t>
            </a:r>
            <a:endParaRPr lang="en-US" sz="183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12699-A581-9940-E62C-995BBEA0103C}"/>
              </a:ext>
            </a:extLst>
          </p:cNvPr>
          <p:cNvSpPr txBox="1"/>
          <p:nvPr/>
        </p:nvSpPr>
        <p:spPr>
          <a:xfrm>
            <a:off x="10478167" y="2437142"/>
            <a:ext cx="1591056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830" dirty="0">
                <a:solidFill>
                  <a:schemeClr val="bg1"/>
                </a:solidFill>
              </a:rPr>
              <a:t>user</a:t>
            </a:r>
            <a:endParaRPr lang="en-US" sz="183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559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FB8D4-4C18-7AC7-1683-C67DE508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99EA28-F9BB-8AC3-D0BA-58A73280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82" y="623878"/>
            <a:ext cx="9147049" cy="10241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cs-CZ" sz="7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Závislosti = komplikace</a:t>
            </a:r>
            <a:endParaRPr lang="en-US" sz="7200" kern="1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8553A7-6C9A-05E8-5C0C-735922B8FC4D}"/>
              </a:ext>
            </a:extLst>
          </p:cNvPr>
          <p:cNvSpPr/>
          <p:nvPr/>
        </p:nvSpPr>
        <p:spPr>
          <a:xfrm>
            <a:off x="5100176" y="2675090"/>
            <a:ext cx="1699039" cy="15078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cs-CZ" dirty="0">
                <a:solidFill>
                  <a:srgbClr val="FFFF99"/>
                </a:solidFill>
                <a:latin typeface="Bahnschrift Condensed" panose="020B0502040204020203" pitchFamily="34" charset="0"/>
              </a:rPr>
              <a:t>SUT</a:t>
            </a:r>
          </a:p>
        </p:txBody>
      </p:sp>
      <p:pic>
        <p:nvPicPr>
          <p:cNvPr id="4" name="Picture 3" descr="A grey gears with a black background&#10;&#10;Description automatically generated">
            <a:extLst>
              <a:ext uri="{FF2B5EF4-FFF2-40B4-BE49-F238E27FC236}">
                <a16:creationId xmlns:a16="http://schemas.microsoft.com/office/drawing/2014/main" id="{F3B12D2A-F391-18B7-2FE8-B3DF41AC2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403" y="3168737"/>
            <a:ext cx="572584" cy="517395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B1BE00B6-5CE3-E0AC-9D58-E5F4ED0B7A61}"/>
              </a:ext>
            </a:extLst>
          </p:cNvPr>
          <p:cNvSpPr/>
          <p:nvPr/>
        </p:nvSpPr>
        <p:spPr>
          <a:xfrm>
            <a:off x="3594369" y="2743287"/>
            <a:ext cx="1505808" cy="484632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Bahnschrift Condensed" panose="020B0502040204020203" pitchFamily="34" charset="0"/>
              </a:rPr>
              <a:t>Run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7FE1950-D5C1-B004-5A3E-245BB8D9A9CA}"/>
              </a:ext>
            </a:extLst>
          </p:cNvPr>
          <p:cNvSpPr/>
          <p:nvPr/>
        </p:nvSpPr>
        <p:spPr>
          <a:xfrm flipH="1">
            <a:off x="3594369" y="3657688"/>
            <a:ext cx="1505805" cy="484632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Bahnschrift Condensed" panose="020B0502040204020203" pitchFamily="34" charset="0"/>
              </a:rPr>
              <a:t>Assert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9AC34-3E14-08FD-5A4D-63867DEC3EF1}"/>
              </a:ext>
            </a:extLst>
          </p:cNvPr>
          <p:cNvSpPr/>
          <p:nvPr/>
        </p:nvSpPr>
        <p:spPr>
          <a:xfrm rot="1432970">
            <a:off x="2613583" y="3581953"/>
            <a:ext cx="914400" cy="33180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latin typeface="Bahnschrift Condensed" panose="020B0502040204020203" pitchFamily="34" charset="0"/>
              </a:rPr>
              <a:t>FAIL</a:t>
            </a:r>
          </a:p>
        </p:txBody>
      </p:sp>
      <p:pic>
        <p:nvPicPr>
          <p:cNvPr id="18" name="Grafický objekt 14" descr="Databáze se souvislou výplní">
            <a:extLst>
              <a:ext uri="{FF2B5EF4-FFF2-40B4-BE49-F238E27FC236}">
                <a16:creationId xmlns:a16="http://schemas.microsoft.com/office/drawing/2014/main" id="{AAEFA4A3-A1EC-3623-39B7-08CBCDCFF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5563" y="2916839"/>
            <a:ext cx="914400" cy="914400"/>
          </a:xfrm>
          <a:prstGeom prst="rect">
            <a:avLst/>
          </a:prstGeom>
        </p:spPr>
      </p:pic>
      <p:sp>
        <p:nvSpPr>
          <p:cNvPr id="19" name="Arrow: Right 4">
            <a:extLst>
              <a:ext uri="{FF2B5EF4-FFF2-40B4-BE49-F238E27FC236}">
                <a16:creationId xmlns:a16="http://schemas.microsoft.com/office/drawing/2014/main" id="{3C167401-38FC-118B-0C21-E6D1F72F713C}"/>
              </a:ext>
            </a:extLst>
          </p:cNvPr>
          <p:cNvSpPr/>
          <p:nvPr/>
        </p:nvSpPr>
        <p:spPr>
          <a:xfrm>
            <a:off x="6799214" y="3168737"/>
            <a:ext cx="1505808" cy="484632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ahnschrift Condensed" panose="020B0502040204020203" pitchFamily="34" charset="0"/>
              </a:rPr>
              <a:t>Depend on</a:t>
            </a:r>
            <a:endParaRPr lang="cs-CZ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337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5E34E-33FC-5AD8-D359-EEEAE35C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486" y="5230055"/>
            <a:ext cx="4391024" cy="684050"/>
          </a:xfrm>
        </p:spPr>
        <p:txBody>
          <a:bodyPr anchor="t">
            <a:normAutofit/>
          </a:bodyPr>
          <a:lstStyle/>
          <a:p>
            <a:pPr algn="ctr"/>
            <a:r>
              <a:rPr lang="cs-CZ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TestContainers</a:t>
            </a:r>
            <a:endParaRPr lang="en-US" sz="40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testcontainers dev ci">
            <a:extLst>
              <a:ext uri="{FF2B5EF4-FFF2-40B4-BE49-F238E27FC236}">
                <a16:creationId xmlns:a16="http://schemas.microsoft.com/office/drawing/2014/main" id="{1A09906C-8DD1-8D09-B176-FB4BF7F0E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986" y="62443"/>
            <a:ext cx="6768025" cy="346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163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1D09A-D3FF-2CCC-B6B4-A09AB893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546B0-0AF8-2020-9483-449E4386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803" y="5193496"/>
            <a:ext cx="6184392" cy="757168"/>
          </a:xfrm>
        </p:spPr>
        <p:txBody>
          <a:bodyPr anchor="t">
            <a:normAutofit/>
          </a:bodyPr>
          <a:lstStyle/>
          <a:p>
            <a:pPr algn="ctr"/>
            <a:r>
              <a:rPr lang="cs-CZ" sz="37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TestContainers workflow</a:t>
            </a:r>
            <a:endParaRPr lang="en-US" sz="37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9E9F380-9A0B-8EC5-0410-0DDD9F449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43" y="91060"/>
            <a:ext cx="8418513" cy="334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77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9C76B1-62C1-CCCC-D703-C013BF50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243" y="2705461"/>
            <a:ext cx="7021513" cy="11811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kern="1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Ukázky</a:t>
            </a:r>
          </a:p>
        </p:txBody>
      </p:sp>
    </p:spTree>
    <p:extLst>
      <p:ext uri="{BB962C8B-B14F-4D97-AF65-F5344CB8AC3E}">
        <p14:creationId xmlns:p14="http://schemas.microsoft.com/office/powerpoint/2010/main" val="1728272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524344-6823-49EA-89D4-E36A82A9F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0465A-8953-42AC-8F67-7B9A54E66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CE1BBA-977A-4210-A80D-8A0BAAA18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1E1A328-D621-4993-B11B-011ED169A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1D2543A-0A6F-4980-98CA-658AA8EEAC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D0F2937-CF06-453C-B076-800064AE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42FEAF10-3C47-F1A4-DF03-E2A7088C4979}"/>
              </a:ext>
            </a:extLst>
          </p:cNvPr>
          <p:cNvSpPr txBox="1">
            <a:spLocks/>
          </p:cNvSpPr>
          <p:nvPr/>
        </p:nvSpPr>
        <p:spPr>
          <a:xfrm>
            <a:off x="2585243" y="2705461"/>
            <a:ext cx="7021513" cy="1181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sz="7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Děkuji za pozornost</a:t>
            </a:r>
            <a:endParaRPr lang="en-US" sz="7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414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63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Bahnschrift Condensed</vt:lpstr>
      <vt:lpstr>Office Theme</vt:lpstr>
      <vt:lpstr>Integrační testy s TestContainers</vt:lpstr>
      <vt:lpstr>Jaké testy jako vývojář chtít</vt:lpstr>
      <vt:lpstr>Průběh testu</vt:lpstr>
      <vt:lpstr>Typy automatizovaných testů</vt:lpstr>
      <vt:lpstr>Závislosti = komplikace</vt:lpstr>
      <vt:lpstr>TestContainers</vt:lpstr>
      <vt:lpstr>TestContainers workflow</vt:lpstr>
      <vt:lpstr>Ukázky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Jiří Mlčoušek</dc:creator>
  <cp:lastModifiedBy>Jiří Mlčoušek</cp:lastModifiedBy>
  <cp:revision>2</cp:revision>
  <dcterms:created xsi:type="dcterms:W3CDTF">2025-11-23T15:46:36Z</dcterms:created>
  <dcterms:modified xsi:type="dcterms:W3CDTF">2025-11-28T07:13:26Z</dcterms:modified>
</cp:coreProperties>
</file>